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c512b216e64dd0" /><Relationship Type="http://schemas.openxmlformats.org/officeDocument/2006/relationships/extended-properties" Target="/docProps/app.xml" Id="R97a98e0b12574fcd" /><Relationship Type="http://schemas.openxmlformats.org/officeDocument/2006/relationships/officeDocument" Target="/ppt/presentation.xml" Id="R74a0078ecde9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b0c2852b5b4bf7"/>
  </p:sldMasterIdLst>
  <p:notesMasterIdLst>
    <p:notesMasterId xmlns:r="http://schemas.openxmlformats.org/officeDocument/2006/relationships" r:id="R73d00e1e136642a6"/>
  </p:notesMasterIdLst>
  <p:sldIdLst>
    <p:sldId xmlns:r="http://schemas.openxmlformats.org/officeDocument/2006/relationships" id="256" r:id="R0c4d22a97f794921"/>
    <p:sldId xmlns:r="http://schemas.openxmlformats.org/officeDocument/2006/relationships" id="257" r:id="R9d1a7572a376403d"/>
    <p:sldId xmlns:r="http://schemas.openxmlformats.org/officeDocument/2006/relationships" id="258" r:id="R19fba6d0459744f6"/>
    <p:sldId xmlns:r="http://schemas.openxmlformats.org/officeDocument/2006/relationships" id="259" r:id="Ra2b376bbfc1a42ed"/>
    <p:sldId xmlns:r="http://schemas.openxmlformats.org/officeDocument/2006/relationships" id="260" r:id="Ra52c307f22a84def"/>
    <p:sldId xmlns:r="http://schemas.openxmlformats.org/officeDocument/2006/relationships" id="261" r:id="R411efe8a904a4819"/>
    <p:sldId xmlns:r="http://schemas.openxmlformats.org/officeDocument/2006/relationships" id="262" r:id="Rddd8293925a448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a6d4c11db44f3f" /><Relationship Type="http://schemas.openxmlformats.org/officeDocument/2006/relationships/slideMaster" Target="/ppt/slideMasters/slideMaster1.xml" Id="R4bb0c2852b5b4bf7" /><Relationship Type="http://schemas.openxmlformats.org/officeDocument/2006/relationships/notesMaster" Target="/ppt/notesMasters/notesMaster1.xml" Id="R73d00e1e136642a6" /><Relationship Type="http://schemas.openxmlformats.org/officeDocument/2006/relationships/presProps" Target="/ppt/presProps.xml" Id="Rdec08a359c224933" /><Relationship Type="http://schemas.openxmlformats.org/officeDocument/2006/relationships/tableStyles" Target="/ppt/tableStyles.xml" Id="R09b8e13220ec4f91" /><Relationship Type="http://schemas.openxmlformats.org/officeDocument/2006/relationships/slide" Target="/ppt/slides/slide1.xml" Id="R0c4d22a97f794921" /><Relationship Type="http://schemas.openxmlformats.org/officeDocument/2006/relationships/slide" Target="/ppt/slides/slide2.xml" Id="R9d1a7572a376403d" /><Relationship Type="http://schemas.openxmlformats.org/officeDocument/2006/relationships/slide" Target="/ppt/slides/slide3.xml" Id="R19fba6d0459744f6" /><Relationship Type="http://schemas.openxmlformats.org/officeDocument/2006/relationships/slide" Target="/ppt/slides/slide4.xml" Id="Ra2b376bbfc1a42ed" /><Relationship Type="http://schemas.openxmlformats.org/officeDocument/2006/relationships/slide" Target="/ppt/slides/slide5.xml" Id="Ra52c307f22a84def" /><Relationship Type="http://schemas.openxmlformats.org/officeDocument/2006/relationships/slide" Target="/ppt/slides/slide6.xml" Id="R411efe8a904a4819" /><Relationship Type="http://schemas.openxmlformats.org/officeDocument/2006/relationships/slide" Target="/ppt/slides/slide7.xml" Id="Rddd8293925a448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9f05d27ef143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f4f7c685954052" /><Relationship Type="http://schemas.openxmlformats.org/officeDocument/2006/relationships/notesMaster" Target="/ppt/notesMasters/notesMaster1.xml" Id="R338e2678086747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d2aa34218546e5" /><Relationship Type="http://schemas.openxmlformats.org/officeDocument/2006/relationships/notesMaster" Target="/ppt/notesMasters/notesMaster1.xml" Id="R331ba4b1c76948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a4f0a040b0467f" /><Relationship Type="http://schemas.openxmlformats.org/officeDocument/2006/relationships/notesMaster" Target="/ppt/notesMasters/notesMaster1.xml" Id="R731c886cdc614a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ba1b15507b4d42" /><Relationship Type="http://schemas.openxmlformats.org/officeDocument/2006/relationships/notesMaster" Target="/ppt/notesMasters/notesMaster1.xml" Id="R7d3dda0e12144a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725f7aca99460e" /><Relationship Type="http://schemas.openxmlformats.org/officeDocument/2006/relationships/notesMaster" Target="/ppt/notesMasters/notesMaster1.xml" Id="Rdada5ac8bc1049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aa08088fa347dd" /><Relationship Type="http://schemas.openxmlformats.org/officeDocument/2006/relationships/notesMaster" Target="/ppt/notesMasters/notesMaster1.xml" Id="R40c133a30b0c46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c99822668f470e" /><Relationship Type="http://schemas.openxmlformats.org/officeDocument/2006/relationships/notesMaster" Target="/ppt/notesMasters/notesMaster1.xml" Id="Rb57edf06a5994d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change: Lilith is no longer only a rental capture page; it is a multilingual real estate lead desk.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asset: /Users/arithachbossabc/Documents/lilith/public/og.png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uses the current project implementation as the evidence base for the operating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files: app/page.tsx, app/dashboard/page.tsx, app/api/import/route.ts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for a DBD/accountant conversation; do not present it as legal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DBD manual: https://www.dbd.go.th/storage/manual/ae86c29a-bfa5-44b7-b14e-8918810c7eea.pdf</a:t>
            </a:r>
          </a:p>
          <a:p xmlns:a="http://schemas.openxmlformats.org/drawingml/2006/main">
            <a:r>
              <a:t>DBD English certificate contact page: https://encert.dbd.go.th/encert-inter/public/en/contact-us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operator-facing explanation of the API, not the exact public credential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files: app/api/import/route.ts, docs/IMPORT_API.md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Chart values are planning scores, not historical performance; use them to compare operating focus.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SEO Starter Guide: https://developers.google.com/search/docs/fundamentals/seo-starter-guide</a:t>
            </a:r>
          </a:p>
          <a:p xmlns:a="http://schemas.openxmlformats.org/drawingml/2006/main">
            <a:r>
              <a:t>Google structured data intro: https://developers.google.com/search/docs/appearance/structured-data/intro-structured-data</a:t>
            </a:r>
          </a:p>
          <a:p xmlns:a="http://schemas.openxmlformats.org/drawingml/2006/main">
            <a:r>
              <a:t>Google localized versions / hreflang: https://developers.google.com/search/docs/specialty/international/localized-versions</a:t>
            </a:r>
          </a:p>
          <a:p xmlns:a="http://schemas.openxmlformats.org/drawingml/2006/main">
            <a:r>
              <a:t>REIC: https://www.reic.or.th/News/RealEstate/470544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reflects the bug analysis document and latest passing test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files: docs/BUG_ANALYSIS.md, tests/rendered-html.test.mjs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two decisions: company setup facts and first partner/customer data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files: docs/ONLINE_ACQUISITION_PLAN.md, docs/DBD_BUSINESS_STRUCTURE.md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b3353b1c74b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c3a282cf9f4c21" /><Relationship Type="http://schemas.openxmlformats.org/officeDocument/2006/relationships/slideLayout" Target="/ppt/slideLayouts/slideLayout1.xml" Id="R87cf06365ea84a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cf06365ea84a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71ee6a11a432f" /><Relationship Type="http://schemas.openxmlformats.org/officeDocument/2006/relationships/image" Target="/ppt/media/image.png" Id="R944a0d415d0f437e" /><Relationship Type="http://schemas.openxmlformats.org/officeDocument/2006/relationships/notesSlide" Target="/ppt/notesSlides/notesSlide1.xml" Id="R2981d6e5419344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d0968653e427c" /><Relationship Type="http://schemas.openxmlformats.org/officeDocument/2006/relationships/notesSlide" Target="/ppt/notesSlides/notesSlide2.xml" Id="Rf3023b5ccfd34f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10adbf886410e" /><Relationship Type="http://schemas.openxmlformats.org/officeDocument/2006/relationships/notesSlide" Target="/ppt/notesSlides/notesSlide3.xml" Id="Rfcb0b0c5d9f54f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15fc50a984179" /><Relationship Type="http://schemas.openxmlformats.org/officeDocument/2006/relationships/notesSlide" Target="/ppt/notesSlides/notesSlide4.xml" Id="R459c575a84b54a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53586d1ba4a1e" /><Relationship Type="http://schemas.openxmlformats.org/officeDocument/2006/relationships/chart" Target="/ppt/slides/charts/chart1.xml" Id="R8c6199055a4146b1" /><Relationship Type="http://schemas.openxmlformats.org/officeDocument/2006/relationships/notesSlide" Target="/ppt/notesSlides/notesSlide5.xml" Id="R8d9a191b3d9149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9c6d12d1b4774" /><Relationship Type="http://schemas.openxmlformats.org/officeDocument/2006/relationships/notesSlide" Target="/ppt/notesSlides/notesSlide6.xml" Id="R6894ea8815c24a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6b1ccd5134f74" /><Relationship Type="http://schemas.openxmlformats.org/officeDocument/2006/relationships/notesSlide" Target="/ppt/notesSlides/notesSlide7.xml" Id="R323f35b1aa5c4f9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Month 1</c:v>
          </c:tx>
          <c:spPr>
            <a:solidFill xmlns:a="http://schemas.openxmlformats.org/drawingml/2006/main">
              <a:srgbClr val="E0B84C"/>
            </a:solidFill>
          </c:spPr>
          <c:cat>
            <c:strLit>
              <c:ptCount val="4"/>
              <c:pt idx="0">
                <c:v>SEO</c:v>
              </c:pt>
              <c:pt idx="1">
                <c:v>China partners</c:v>
              </c:pt>
              <c:pt idx="2">
                <c:v>Expat/HR</c:v>
              </c:pt>
              <c:pt idx="3">
                <c:v>Russian partners</c:v>
              </c:pt>
            </c:strLit>
          </c:cat>
          <c:val>
            <c:numLit>
              <c:formatCode>General</c:formatCode>
              <c:ptCount val="4"/>
              <c:pt idx="0">
                <c:v>2</c:v>
              </c:pt>
              <c:pt idx="1">
                <c:v>4</c:v>
              </c:pt>
              <c:pt idx="2">
                <c:v>2</c:v>
              </c:pt>
              <c:pt idx="3">
                <c:v>1</c:v>
              </c:pt>
            </c:numLit>
          </c:val>
        </c:ser>
        <c:ser>
          <c:idx val="1"/>
          <c:order val="1"/>
          <c:tx>
            <c:v>Month 3</c:v>
          </c:tx>
          <c:spPr>
            <a:solidFill xmlns:a="http://schemas.openxmlformats.org/drawingml/2006/main">
              <a:srgbClr val="0D7C66"/>
            </a:solidFill>
          </c:spPr>
          <c:cat>
            <c:strLit>
              <c:ptCount val="4"/>
              <c:pt idx="0">
                <c:v>SEO</c:v>
              </c:pt>
              <c:pt idx="1">
                <c:v>China partners</c:v>
              </c:pt>
              <c:pt idx="2">
                <c:v>Expat/HR</c:v>
              </c:pt>
              <c:pt idx="3">
                <c:v>Russian partners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8</c:v>
              </c:pt>
              <c:pt idx="2">
                <c:v>5</c:v>
              </c:pt>
              <c:pt idx="3">
                <c:v>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4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6E456-374F-4F1E-BCD1-128BB2A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Lilith Homes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055B2-3251-4D8A-AC89-6F19F5BE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7C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D7C66"/>
                </a:solidFill>
                <a:latin typeface="Helvetica Neue"/>
                <a:ea typeface="Helvetica Neue"/>
                <a:cs typeface="Helvetica Neue"/>
              </a:rPr>
              <a:t>International real estate lead 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0B4EE-F4E0-420F-98BB-807CBE97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52650"/>
            <a:ext cx="5095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A simple web app for Thai, Chinese, English and Russian property leads, with SEO-ready intake and protected partner imports.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7D10B-1516-4EE7-AB11-E8BCDF5A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72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Build package · 28 Aug 2026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a0d415d0f437e"/>
          <a:srcRect xmlns:a="http://schemas.openxmlformats.org/drawingml/2006/main" l="24011" t="0" r="240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103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F6237-56E7-4808-AC33-F4C3F370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03009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5C4C1-B5B4-4653-A97A-083AB856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04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The MVP turns scattered property inquiries into one pipeline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333375" y="5343525"/>
            <a:ext cx="12249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15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96EF7-C018-47E7-8739-FD8438EA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86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15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4D9C8-D5B6-48C0-A0BA-0AE1838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86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1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11E79-E563-4F88-8B0E-573E3962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86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15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18092-9AA4-4351-B66B-D85E748C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3571875" cy="3619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CEFDD-69C9-431E-9E79-6F3D715F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3571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79032-76BD-4180-8831-6D5C00CD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002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80844-18C1-49CB-84E5-55D4EE80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Public form, UTM links, CSV and JSON API collect the same core lead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49BA9-6703-4D77-8D6B-DF0ABCA9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2600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0C67C-60BF-41B4-9B1C-9DBF8858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00175"/>
            <a:ext cx="3571875" cy="3619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B7F72-EF17-445C-BFED-AB85F3E9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00175"/>
            <a:ext cx="3571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2CC68-77CF-489C-8056-69D68244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02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Qualify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BED72-0466-4A50-A02B-38C61F0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2890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Budget period, country, language, WeChat, intent and property brief separate serious leads from noise.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AC954-6C03-4B55-98F9-EE6335FB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00700"/>
            <a:ext cx="2600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Daily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EF1B8-1684-4A41-B6CD-EE1C312D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00175"/>
            <a:ext cx="3571875" cy="3619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B6DD5-AABE-4289-8F1C-245C5109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00175"/>
            <a:ext cx="3571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F2F"/>
          </a:solidFill>
          <a:ln xmlns:a="http://schemas.openxmlformats.org/drawingml/2006/main" w="0">
            <a:solidFill>
              <a:srgbClr val="B94F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B8F5C-C33E-4FB7-A696-4A4EFFBA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002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F851F-7520-4D70-90A7-B06451F2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2890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Dashboard stages, next follow-up and multilingual replies keep the team focused on the next action.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205A9-6C23-4F7D-B585-651969D9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00700"/>
            <a:ext cx="2600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Deal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1FE47-F04A-4318-9BE0-F4A1BC66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87458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2D90E4-2DA9-4D6E-B72F-01B70F6C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316"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DBD setup should make the brokerage model easy to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0EBF8-89D1-4E51-BF84-237FF2B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The working recommendation is a Thai company limited with clear shareholders, directors, office, URL and operating records before scaling partner referrals.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80156-B878-4C9F-A4BF-F7140563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8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647B6-0C98-4450-A818-3B662049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24100"/>
            <a:ext cx="207645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9D02A-0733-4078-8837-F5F1FF5B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24100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What to prepare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1A15A-810D-4639-9D9B-42189804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247900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861F6-8051-4F07-9E9D-8D0BF306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24100"/>
            <a:ext cx="481012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94C17-D2A8-4916-8E14-9223447A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47900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5EFFF-F7CD-4096-87E4-76E90934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03538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29A79-E2E9-4E00-9FCB-8D5D1047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79738"/>
            <a:ext cx="207645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5CA8D-F0F2-4351-987A-F320E956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79738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Thai company limited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CE703-E719-4F98-8732-83D770BE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903538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5709D-90A8-4752-AA72-9E881CE9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79738"/>
            <a:ext cx="481012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Cleaner contracts, bank/accounting setup and partner credibility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F5011-BE1B-4FC6-907F-DD9C6AD2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903538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24DA7-5C08-4D87-9483-9C19F718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59175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91ACB-97D5-48BA-9D7C-04BB0FF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35375"/>
            <a:ext cx="207645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83E1A-893E-4E47-8BA2-EA0E2BF7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35375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Shareholders, paid-up capital, director authority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1BF323-9C48-4EF8-B491-BE323950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59175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5A110-D2A1-4AE5-9C1B-243DBE0F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35375"/>
            <a:ext cx="481012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DBD filing and foreign-control review depend on real 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0E7A7-2EA9-4670-89F6-A7B3D1A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559175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5014A-A94C-48CC-B214-D77AEEC3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14813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C0CBB-0AC3-454E-9717-A1520D5F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91013"/>
            <a:ext cx="207645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Office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7B906-7855-453E-88D5-0AD23E5E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291013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Registered address, email, phone, website URL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093F7-BA26-48CA-AF10-D1841AC8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214813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E37232-E1F1-4A4D-A8B9-E016FFAE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91013"/>
            <a:ext cx="481012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DBD manual lists office and URL/contact data among setup details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3323D7-9594-4FBE-A22F-B8660D9A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214813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20494E-1B2F-4AEA-8CDE-FC2695FF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70450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8CA843-2EAB-4168-95E9-3275CC23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946650"/>
            <a:ext cx="207645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Documents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5488DB-61C5-4310-BAF9-24CE4FC1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946650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BOJ forms, shareholder list, meeting records, share payment proof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641A3-9B21-4814-9762-BC9803A1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870450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D70EC-9E91-4EE2-A296-0680EF89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46650"/>
            <a:ext cx="481012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Needed before registration package is submitted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A36846-2DDE-4957-8194-6B98576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870450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77F3B6-CBAC-4820-88E2-F40CF7B6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6088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A627A9-A583-4592-A517-9ADDE1DE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02288"/>
            <a:ext cx="207645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776BCD-8E3C-4D5F-B092-6E8987B0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602288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Consent, referral agreement, commission record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992B59-F070-403C-91F2-DE62E8CD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526088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18C3E9-850E-47D4-A36B-EB06A8EB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02288"/>
            <a:ext cx="481012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Protects customer data and partner handoffs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6902B9-0954-481B-9528-D2BDD82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526088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ECE675-9688-4F0A-9731-0FE3E655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6738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C204CA-1CF9-4B56-88EF-EF552D0A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8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Partner data can enter from Excel without exposing the private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3B0FD-3C65-465F-AE0E-48DCAD29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The import API accepts JSON, CSV and uploaded CSV files, but requires dashboard sign-in or a configured import token.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542BD-E275-4DC4-B408-C4750E77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8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5F430-8767-4826-B9E2-DE3B49AB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24100"/>
            <a:ext cx="1981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BD4DE-1B5B-40A0-B9AF-93A3B139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24100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3E90C-EEBD-45E0-AFAE-BC57618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247900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02C22-2DE9-458F-8529-B1CF8290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324100"/>
            <a:ext cx="490537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Operational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C9830-9FDC-4CCA-B00E-0495C2FD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47900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45F25-81E5-401C-945F-98A5058E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03538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D9BE5-EB85-4875-9F04-2B02D09A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79738"/>
            <a:ext cx="1981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6DE3C-C7B2-4ABE-9161-EF30C227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979738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UTM, partnerAgency, externalId, importBatch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A5B36-243E-45B5-A50A-EEFD19F7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03538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F6162-6892-4F7F-B965-516CEFA4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79738"/>
            <a:ext cx="490537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Every lead keeps a traceable origin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DA68D-2BE6-4490-B4E9-EF1F0FF3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03538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B2192-9A61-4BC2-9E48-21F692CF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59175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C8B03-52AC-4717-91BC-B7779E77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35375"/>
            <a:ext cx="1981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84F22-614D-465F-8FDA-AE600DC8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635375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Name, contact/WeChat, budget, area, type, language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1D38E-EAE8-4EB8-BD96-46B89615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559175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3439C-0C73-48F9-9062-99620835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35375"/>
            <a:ext cx="490537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Bad rows are rejected before reaching the pipeline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F51D0-DB9F-447A-ABA2-D1751A60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559175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054A3-ACC3-4571-984E-51545328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14813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5DA5F-501C-4126-8EE0-72126B85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91013"/>
            <a:ext cx="1981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C2799-43C1-4F71-B5AD-EE5F29AA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291013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Sign-in or LEAD_IMPORT_TOKEN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8335D4-1FB2-4E75-A102-1B0388BE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14813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D1BC01-E8A0-4AEA-9519-81F73975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291013"/>
            <a:ext cx="490537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China partners can integrate without seeing all lead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C406B-7BE0-44DF-9A07-A1D540ED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214813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FD4AC-CE9A-47DD-8B42-C1388FF5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70450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E2A61E-5278-48D8-8659-D528DF8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946650"/>
            <a:ext cx="1981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Formats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6B4A6A-C9F6-4B1F-8EA3-F1FFB7EF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946650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JSON, CSV, multipart 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2C1648-041A-495A-BBE0-BA9F6B7D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870450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1DB6A-AA2C-438C-9533-5AFF7D8F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46650"/>
            <a:ext cx="490537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Excel exports and CRM scripts both work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93A889-31B9-458C-B644-C06B5CB3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70450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D5230A-AE5E-4B9C-B759-FC105D07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6088"/>
            <a:ext cx="114014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C012BA-19A3-4E01-96DD-00CAB7B7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02288"/>
            <a:ext cx="1981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Next hardening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82BF89-E7BF-4403-AEB3-7FA1A0B0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602288"/>
            <a:ext cx="3886200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Preview, duplicate detection, consentSource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E3127A-4E8F-4E08-82A5-ADE7CD63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526088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979F92-12A2-4EAD-8925-ACCD2D50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602288"/>
            <a:ext cx="4905375" cy="54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Reduces cleanup once volume grows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0226E0-9A70-4AD2-9F2B-1B8EC233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526088"/>
            <a:ext cx="9525" cy="65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B66EFA-73B7-4C93-A1A8-91CB5D22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69007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0AEDC-383A-4ADD-BE21-BB59D139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524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5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Acquisition should scale after quality signals are visible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09575" y="1238250"/>
          <a:ext xmlns:a="http://schemas.openxmlformats.org/drawingml/2006/main" cx="5124450" cy="5000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6199055a4146b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ABBE3-AEE7-4F71-A378-A3E8B2C0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"/>
            <a:ext cx="5534025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6C33A-6C60-4538-9AB0-B819E41A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76275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SEO earns compounding demand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192D9-5F99-48EC-8858-BC468607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114425"/>
            <a:ext cx="4991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Start with localized pages for Bangkok rent, China buyers, China agent referrals and Russian clients.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7A4AB-03D7-4AE5-A578-08896632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534025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72CDA-602C-4DFC-B8A5-AD3BD7C4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670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Partners create fast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3E3A5-AC54-4AFC-B761-D36A34CF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05150"/>
            <a:ext cx="4991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WeChat/agent referrals should be measured by accepted rows, first response and shortlist 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5B90B-31B1-4292-839A-B1790B50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71975"/>
            <a:ext cx="5534025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73DFA-C4E1-4274-8E5A-C92A8AE8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57725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Paid media waits for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541EE-18D7-4F43-9FCB-3962B5C5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95875"/>
            <a:ext cx="4991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Spend only after source quality, area demand and close blockers are visible in the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01246-6A90-4C04-9F2E-823223E2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20099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614360-8840-4F97-B151-BEBD1BBB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396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The highest-risk bugs are data quality, privacy and schema drift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C38F1-B269-46F2-9380-56CA9F77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The MVP already blocks public reads, separates import auth, validates budget periods and ships D1 migration fields.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B7958-934A-44B5-915E-BD8F38A8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52650"/>
            <a:ext cx="114014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8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D58BD-CA16-4276-B2B9-0B0358BB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228850"/>
            <a:ext cx="2457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CB20A-8827-4939-A3F7-FB8B72CD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228850"/>
            <a:ext cx="3981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Current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40922-4016-4397-98A9-D968C019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52650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5927F-815A-4582-8F4F-F8DE281F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28850"/>
            <a:ext cx="4333875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Next improvement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E8BB0-1B93-47C0-BB9A-AF74BE5F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B3C32-E7F9-4085-91F6-A19F7140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28232"/>
            <a:ext cx="114014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389CC-2E16-4ECA-B35E-899E0A09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804432"/>
            <a:ext cx="2457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Excel header mismatch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4FF65-CA45-403E-B8E2-85BD24B2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04432"/>
            <a:ext cx="3981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Alias mapping and rejected row reasons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373C5-FF39-4879-BB41-4F9445E9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28232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22831-D2AF-4612-8F37-3902E802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04432"/>
            <a:ext cx="4333875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Downloadable template and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86C51-3C64-4ADB-9D54-8D5731AE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28232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7DA33-4A57-462B-BC89-4445AD2F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03814"/>
            <a:ext cx="114014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C61DE-E752-465E-9DEA-8E6620E8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80014"/>
            <a:ext cx="2457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Wrong budget 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9027F-A6F1-493E-8978-5142900B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380014"/>
            <a:ext cx="3981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Monthly, purchase and listing ranges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5D544-62E6-490D-BEC5-478AE438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03814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A89E3-9F77-4CA4-8547-3D8AD7BB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380014"/>
            <a:ext cx="4333875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Inline dashboard warnings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261AF-69F9-4304-9D15-1F3637C9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03814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1AD9E-2FC9-40A6-A7D7-2D789555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79396"/>
            <a:ext cx="114014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B85CB-A692-46B4-B3D3-2D300519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55596"/>
            <a:ext cx="2457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Lead privacy leak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EE78F-CAB3-4A60-B9E3-2F244857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955596"/>
            <a:ext cx="3981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Protected GET/PATCH/DELETE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5C531-A1D0-47BE-98F0-10B1D468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879396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71922F-A5B1-4221-B15C-3CB3241A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55596"/>
            <a:ext cx="4333875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Role-based access later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DF470-ACAC-47D4-8E67-ADA98E40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79396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A7D10-EF73-4EAB-81E2-75D8CE60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54979"/>
            <a:ext cx="114014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04312B-3C36-40D5-AC5B-21025463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31179"/>
            <a:ext cx="2457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Unauthorized imports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A9BD26-1E12-49B2-A7C2-09A8933C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531179"/>
            <a:ext cx="3981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Sign-in or token required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D1E44F-C42B-4FC4-B99A-69E8A3BB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54979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B7181D-EA77-4B8D-851D-1C0F0462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31179"/>
            <a:ext cx="4333875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Token rotation and partner allowlist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7467F6-E628-4250-9A5A-B0E7C7A5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454979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D22000-0D12-4902-B921-42E7C55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30561"/>
            <a:ext cx="114014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EAD43D-C5B6-4739-B241-71CB1AC4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06761"/>
            <a:ext cx="2457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Partner consent gap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BF8F20-C2EC-466E-A7BB-E294A302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106761"/>
            <a:ext cx="3981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Consent-first import guide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5234E1-39F8-4A3C-BE6B-DE8ECC82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030561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7D49CA-D3EE-4E86-900A-23DB1CE9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06761"/>
            <a:ext cx="4333875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Required consentSource field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095654-6C70-40C6-A589-8D428A13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30561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4A0599-3031-480C-BA6D-4AD5A01D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6143"/>
            <a:ext cx="114014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AF8CBA-C8D0-480C-96A8-DF221CD3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82343"/>
            <a:ext cx="2457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D1 column drift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64E267-99BB-408B-AD72-F3315841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682343"/>
            <a:ext cx="3981450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Migration plus defensive ensureSchema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75ABB5-3BE4-4831-B143-02126409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606143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9D06E8-D3F7-465F-BA8A-CA572E65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682343"/>
            <a:ext cx="4333875" cy="461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Migration-only production policy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4B67F3-0687-4D9C-87C6-15062AF1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606143"/>
            <a:ext cx="9525" cy="575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0"/>
          </a:solidFill>
          <a:ln xmlns:a="http://schemas.openxmlformats.org/drawingml/2006/main" w="0">
            <a:solidFill>
              <a:srgbClr val="CBD5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271371-63B5-4294-B527-897D8E1E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04764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5E0A6-DE06-4CD2-BE61-A81F0472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8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The next 30 days should prove source quality before adding complexity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333375" y="5343525"/>
            <a:ext cx="12249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15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C4906-6DF3-4475-BC49-FD0D1321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86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15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20B80-A2EA-42ED-AA67-AAD8BAF7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86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1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B8256-5DC6-4148-9EF3-C9EC7664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86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15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81169-2221-4042-A09C-9CF26F46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3571875" cy="3619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4C5BD-C46F-44F0-BA90-6E666E0C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3571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48C89-D4CF-458C-850E-DA933439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002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CE77B-9430-4906-88CB-885E4110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Publish MVP, set import token, prepare company/contact placeholders and build the first partner 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FB168-30E0-4C7D-B803-950758C5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2600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F4FFE-4201-4FCA-86F6-8CFAEA60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00175"/>
            <a:ext cx="3571875" cy="3619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E75B8-90B8-4AEF-BF8C-559EBDD3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00175"/>
            <a:ext cx="3571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3DCEE-514F-410B-B2A1-9C62A8F4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02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Weeks 2-3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A91E0-D5B9-4187-B7E7-D61759F9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2890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Launch SEO pages, contact China partners, import replies, review rejected rows and fix weak scripts.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CF13B-37DE-4F67-962C-399E8BE9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00700"/>
            <a:ext cx="2600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EC2BB-7AFE-4C1F-A486-0E0CA1A4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00175"/>
            <a:ext cx="3571875" cy="3619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CBD5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4859B-31F7-4309-8ACC-F5CF3E7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00175"/>
            <a:ext cx="3571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F2F"/>
          </a:solidFill>
          <a:ln xmlns:a="http://schemas.openxmlformats.org/drawingml/2006/main" w="0">
            <a:solidFill>
              <a:srgbClr val="B94F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7B2D5-8C3B-40D4-9CD6-EE078344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002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787A5-0D1F-4883-A676-5C27F282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2890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B65"/>
                </a:solidFill>
                <a:latin typeface="Helvetica Neue"/>
                <a:ea typeface="Helvetica Neue"/>
                <a:cs typeface="Helvetica Neue"/>
              </a:rPr>
              <a:t>Double down on the best two sources, write the first case study and prepare DBD/admin documents.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57FA6-2917-4B83-AE32-F321F65E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00700"/>
            <a:ext cx="2600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1FF07-BEE5-43B9-BAD8-1A37966A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52242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2026-08-28T10:27:39.6110000Z</dcterms:created>
  <dcterms:modified xsi:type="dcterms:W3CDTF">2026-08-28T10:27:39.6110000Z</dcterms:modified>
</coreProperties>
</file>